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4241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9F9A"/>
                </a:solidFill>
              </a:defRPr>
            </a:pPr>
            <a:r>
              <a:t>WEEK 06</a:t>
            </a:r>
          </a:p>
          <a:p>
            <a:pPr>
              <a:spcBef>
                <a:spcPts val="1000"/>
              </a:spcBef>
              <a:defRPr sz="3400" b="1">
                <a:solidFill>
                  <a:srgbClr val="FFFFFF"/>
                </a:solidFill>
              </a:defRPr>
            </a:pPr>
            <a:r>
              <a:t>WEB SECURITY &amp;</a:t>
            </a:r>
            <a:br/>
            <a:r>
              <a:t>VULNERABILITY TESTING</a:t>
            </a:r>
          </a:p>
          <a:p>
            <a:pPr>
              <a:spcBef>
                <a:spcPts val="1200"/>
              </a:spcBef>
              <a:defRPr sz="1600">
                <a:solidFill>
                  <a:srgbClr val="CDDAEA"/>
                </a:solidFill>
              </a:defRPr>
            </a:pPr>
            <a:r>
              <a:t>STEP-BY-STEP VAPT PRACTICAL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754880"/>
            <a:ext cx="3383280" cy="914400"/>
          </a:xfrm>
          <a:prstGeom prst="roundRect">
            <a:avLst/>
          </a:prstGeom>
          <a:solidFill>
            <a:srgbClr val="1D344D"/>
          </a:solidFill>
          <a:ln>
            <a:solidFill>
              <a:srgbClr val="38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4882896"/>
            <a:ext cx="3063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9F9A"/>
                </a:solidFill>
              </a:defRPr>
            </a:pPr>
            <a:r>
              <a:t>TARGET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Local DVWA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4754880"/>
            <a:ext cx="3383280" cy="914400"/>
          </a:xfrm>
          <a:prstGeom prst="roundRect">
            <a:avLst/>
          </a:prstGeom>
          <a:solidFill>
            <a:srgbClr val="1D344D"/>
          </a:solidFill>
          <a:ln>
            <a:solidFill>
              <a:srgbClr val="38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90872" y="4882896"/>
            <a:ext cx="3063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9F9A"/>
                </a:solidFill>
              </a:defRPr>
            </a:pPr>
            <a:r>
              <a:t>TOOLS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Burp Suite CE • OWASP ZAP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754880"/>
            <a:ext cx="3383280" cy="914400"/>
          </a:xfrm>
          <a:prstGeom prst="roundRect">
            <a:avLst/>
          </a:prstGeom>
          <a:solidFill>
            <a:srgbClr val="1D344D"/>
          </a:solidFill>
          <a:ln>
            <a:solidFill>
              <a:srgbClr val="38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4882896"/>
            <a:ext cx="3063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9F9A"/>
                </a:solidFill>
              </a:defRPr>
            </a:pPr>
            <a:r>
              <a:t>EVIDENCE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7 selected screenshots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43A"/>
                </a:solidFill>
                <a:latin typeface="Aptos Display"/>
              </a:defRPr>
            </a:pPr>
            <a:r>
              <a:t>Lab Setup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579"/>
                </a:solidFill>
              </a:defRPr>
            </a:pPr>
            <a:r>
              <a:t>Authorized local target only: http://127.0.0.1:8082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064240" cy="32004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26579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3245"/>
                </a:solidFill>
                <a:latin typeface="Aptos"/>
              </a:defRPr>
            </a:pPr>
            <a:r>
              <a:t>1  Start Docker and verify the DVWA container</a:t>
            </a:r>
          </a:p>
          <a:p>
            <a:pPr>
              <a:spcAft>
                <a:spcPts val="1000"/>
              </a:spcAft>
              <a:defRPr sz="1700">
                <a:solidFill>
                  <a:srgbClr val="233245"/>
                </a:solidFill>
                <a:latin typeface="Aptos"/>
              </a:defRPr>
            </a:pPr>
            <a:r>
              <a:t>2  Open DVWA and use Low security for the exercise</a:t>
            </a:r>
          </a:p>
          <a:p>
            <a:pPr>
              <a:spcAft>
                <a:spcPts val="1000"/>
              </a:spcAft>
              <a:defRPr sz="1700">
                <a:solidFill>
                  <a:srgbClr val="233245"/>
                </a:solidFill>
                <a:latin typeface="Aptos"/>
              </a:defRPr>
            </a:pPr>
            <a:r>
              <a:t>3  Test SQL Injection with baseline vs controlled input</a:t>
            </a:r>
          </a:p>
          <a:p>
            <a:pPr>
              <a:spcAft>
                <a:spcPts val="1000"/>
              </a:spcAft>
              <a:defRPr sz="1700">
                <a:solidFill>
                  <a:srgbClr val="233245"/>
                </a:solidFill>
                <a:latin typeface="Aptos"/>
              </a:defRPr>
            </a:pPr>
            <a:r>
              <a:t>4  Test Reflected XSS and Stored XSS separately</a:t>
            </a:r>
          </a:p>
          <a:p>
            <a:pPr>
              <a:spcAft>
                <a:spcPts val="1000"/>
              </a:spcAft>
              <a:defRPr sz="1700">
                <a:solidFill>
                  <a:srgbClr val="233245"/>
                </a:solidFill>
                <a:latin typeface="Aptos"/>
              </a:defRPr>
            </a:pPr>
            <a:r>
              <a:t>5  Inspect requests/responses in Burp HTTP history</a:t>
            </a:r>
          </a:p>
          <a:p>
            <a:pPr>
              <a:spcAft>
                <a:spcPts val="1000"/>
              </a:spcAft>
              <a:defRPr sz="1700">
                <a:solidFill>
                  <a:srgbClr val="233245"/>
                </a:solidFill>
                <a:latin typeface="Aptos"/>
              </a:defRPr>
            </a:pPr>
            <a:r>
              <a:t>6  Scan DVWA with ZAP and review alerts</a:t>
            </a:r>
          </a:p>
          <a:p>
            <a:pPr>
              <a:spcAft>
                <a:spcPts val="1000"/>
              </a:spcAft>
              <a:defRPr sz="1700">
                <a:solidFill>
                  <a:srgbClr val="233245"/>
                </a:solidFill>
                <a:latin typeface="Aptos"/>
              </a:defRPr>
            </a:pPr>
            <a:r>
              <a:t>7  Export report and save selected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43A"/>
                </a:solidFill>
                <a:latin typeface="Aptos Display"/>
              </a:defRPr>
            </a:pPr>
            <a:r>
              <a:t>Step 1 — Prepare the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579"/>
                </a:solidFill>
              </a:defRPr>
            </a:pPr>
            <a:r>
              <a:t>Start Docker; confirm DVWA is local and reachable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064240" cy="32004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26579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3245"/>
                </a:solidFill>
                <a:latin typeface="Aptos"/>
              </a:defRPr>
            </a:pPr>
            <a:r>
              <a:t>Check the running container: sudo docker ps</a:t>
            </a:r>
          </a:p>
          <a:p>
            <a:pPr>
              <a:spcAft>
                <a:spcPts val="1000"/>
              </a:spcAft>
              <a:defRPr sz="1600">
                <a:solidFill>
                  <a:srgbClr val="233245"/>
                </a:solidFill>
                <a:latin typeface="Aptos"/>
              </a:defRPr>
            </a:pPr>
            <a:r>
              <a:t>Open http://127.0.0.1:8082 in the Kali browser</a:t>
            </a:r>
          </a:p>
          <a:p>
            <a:pPr>
              <a:spcAft>
                <a:spcPts val="1000"/>
              </a:spcAft>
              <a:defRPr sz="1600">
                <a:solidFill>
                  <a:srgbClr val="233245"/>
                </a:solidFill>
                <a:latin typeface="Aptos"/>
              </a:defRPr>
            </a:pPr>
            <a:r>
              <a:t>Initialize DVWA if requested; select Low for introductory tests</a:t>
            </a:r>
          </a:p>
          <a:p>
            <a:pPr>
              <a:spcAft>
                <a:spcPts val="1000"/>
              </a:spcAft>
              <a:defRPr sz="1600">
                <a:solidFill>
                  <a:srgbClr val="233245"/>
                </a:solidFill>
                <a:latin typeface="Aptos"/>
              </a:defRPr>
            </a:pPr>
            <a:r>
              <a:t>Keep the target bound to localhost — do not expose it publicly</a:t>
            </a:r>
          </a:p>
        </p:txBody>
      </p:sp>
      <p:pic>
        <p:nvPicPr>
          <p:cNvPr id="7" name="Picture 6" descr="10003918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250638"/>
            <a:ext cx="5715000" cy="27682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06440" y="5797296"/>
            <a:ext cx="5715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26579"/>
                </a:solidFill>
              </a:defRPr>
            </a:pPr>
            <a:r>
              <a:t>Step 1 — Docker environment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43A"/>
                </a:solidFill>
                <a:latin typeface="Aptos Display"/>
              </a:defRPr>
            </a:pPr>
            <a:r>
              <a:t>Step 2 — SQL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579"/>
                </a:solidFill>
              </a:defRPr>
            </a:pPr>
            <a:r>
              <a:t>Evidence: DVWA input changed the query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064240" cy="32004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26579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3245"/>
                </a:solidFill>
                <a:latin typeface="Aptos"/>
              </a:defRPr>
            </a:pPr>
            <a:r>
              <a:t>Open Vulnerabilities → SQL Injection</a:t>
            </a:r>
          </a:p>
          <a:p>
            <a:pPr>
              <a:spcAft>
                <a:spcPts val="1000"/>
              </a:spcAft>
              <a:defRPr sz="1500">
                <a:solidFill>
                  <a:srgbClr val="233245"/>
                </a:solidFill>
                <a:latin typeface="Aptos"/>
              </a:defRPr>
            </a:pPr>
            <a:r>
              <a:t>Submit baseline ID: 1</a:t>
            </a:r>
          </a:p>
          <a:p>
            <a:pPr>
              <a:spcAft>
                <a:spcPts val="1000"/>
              </a:spcAft>
              <a:defRPr sz="1500">
                <a:solidFill>
                  <a:srgbClr val="233245"/>
                </a:solidFill>
                <a:latin typeface="Aptos"/>
              </a:defRPr>
            </a:pPr>
            <a:r>
              <a:t>Then test in the local lab: 1' OR '1'='1</a:t>
            </a:r>
          </a:p>
          <a:p>
            <a:pPr>
              <a:spcAft>
                <a:spcPts val="1000"/>
              </a:spcAft>
              <a:defRPr sz="1500">
                <a:solidFill>
                  <a:srgbClr val="233245"/>
                </a:solidFill>
                <a:latin typeface="Aptos"/>
              </a:defRPr>
            </a:pPr>
            <a:r>
              <a:t>Compare results and capture the output</a:t>
            </a:r>
          </a:p>
          <a:p>
            <a:pPr>
              <a:spcAft>
                <a:spcPts val="1000"/>
              </a:spcAft>
              <a:defRPr sz="1500">
                <a:solidFill>
                  <a:srgbClr val="233245"/>
                </a:solidFill>
                <a:latin typeface="Aptos"/>
              </a:defRPr>
            </a:pPr>
            <a:r>
              <a:t>Fix: prepared statements / parameterized queries</a:t>
            </a:r>
          </a:p>
        </p:txBody>
      </p:sp>
      <p:pic>
        <p:nvPicPr>
          <p:cNvPr id="7" name="Picture 6" descr="10003919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95836"/>
            <a:ext cx="5806440" cy="39692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0" y="5980176"/>
            <a:ext cx="5806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26579"/>
                </a:solidFill>
              </a:defRPr>
            </a:pPr>
            <a:r>
              <a:t>Selected SQL Injection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43A"/>
                </a:solidFill>
                <a:latin typeface="Aptos Display"/>
              </a:defRPr>
            </a:pPr>
            <a:r>
              <a:t>Step 3 — Burp Suite HTTP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579"/>
                </a:solidFill>
              </a:defRPr>
            </a:pPr>
            <a:r>
              <a:t>Inspect the actual request and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064240" cy="32004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26579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3245"/>
                </a:solidFill>
                <a:latin typeface="Aptos"/>
              </a:defRPr>
            </a:pPr>
            <a:r>
              <a:t>Open Proxy → HTTP history</a:t>
            </a:r>
          </a:p>
          <a:p>
            <a:pPr>
              <a:spcAft>
                <a:spcPts val="1000"/>
              </a:spcAft>
              <a:defRPr sz="1500">
                <a:solidFill>
                  <a:srgbClr val="233245"/>
                </a:solidFill>
                <a:latin typeface="Aptos"/>
              </a:defRPr>
            </a:pPr>
            <a:r>
              <a:t>Select the request to the DVWA SQL Injection page</a:t>
            </a:r>
          </a:p>
          <a:p>
            <a:pPr>
              <a:spcAft>
                <a:spcPts val="1000"/>
              </a:spcAft>
              <a:defRPr sz="1500">
                <a:solidFill>
                  <a:srgbClr val="233245"/>
                </a:solidFill>
                <a:latin typeface="Aptos"/>
              </a:defRPr>
            </a:pPr>
            <a:r>
              <a:t>Inspect the Request and Response panes</a:t>
            </a:r>
          </a:p>
          <a:p>
            <a:pPr>
              <a:spcAft>
                <a:spcPts val="1000"/>
              </a:spcAft>
              <a:defRPr sz="1500">
                <a:solidFill>
                  <a:srgbClr val="233245"/>
                </a:solidFill>
                <a:latin typeface="Aptos"/>
              </a:defRPr>
            </a:pPr>
            <a:r>
              <a:t>Claim a payload was captured only if it is visible</a:t>
            </a:r>
          </a:p>
        </p:txBody>
      </p:sp>
      <p:pic>
        <p:nvPicPr>
          <p:cNvPr id="7" name="Picture 6" descr="10003919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884253"/>
            <a:ext cx="6812280" cy="35924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09160" y="5980176"/>
            <a:ext cx="6812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26579"/>
                </a:solidFill>
              </a:defRPr>
            </a:pPr>
            <a:r>
              <a:t>Burp HTTP history screenshot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43A"/>
                </a:solidFill>
                <a:latin typeface="Aptos Display"/>
              </a:defRPr>
            </a:pPr>
            <a:r>
              <a:t>Step 4 — Reflected XSS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579"/>
                </a:solidFill>
              </a:defRPr>
            </a:pPr>
            <a:r>
              <a:t>Browser alert supports script execution in the local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064240" cy="32004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26579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3245"/>
                </a:solidFill>
                <a:latin typeface="Aptos"/>
              </a:defRPr>
            </a:pPr>
            <a:r>
              <a:t>Open Vulnerabilities → XSS (Reflected)</a:t>
            </a:r>
          </a:p>
          <a:p>
            <a:pPr>
              <a:spcAft>
                <a:spcPts val="1000"/>
              </a:spcAft>
              <a:defRPr sz="1500">
                <a:solidFill>
                  <a:srgbClr val="233245"/>
                </a:solidFill>
                <a:latin typeface="Aptos"/>
              </a:defRPr>
            </a:pPr>
            <a:r>
              <a:t>Test a harmless baseline value first</a:t>
            </a:r>
          </a:p>
          <a:p>
            <a:pPr>
              <a:spcAft>
                <a:spcPts val="1000"/>
              </a:spcAft>
              <a:defRPr sz="1500">
                <a:solidFill>
                  <a:srgbClr val="233245"/>
                </a:solidFill>
                <a:latin typeface="Aptos"/>
              </a:defRPr>
            </a:pPr>
            <a:r>
              <a:t>Use the training alert payload only on local DVWA</a:t>
            </a:r>
          </a:p>
          <a:p>
            <a:pPr>
              <a:spcAft>
                <a:spcPts val="1000"/>
              </a:spcAft>
              <a:defRPr sz="1500">
                <a:solidFill>
                  <a:srgbClr val="233245"/>
                </a:solidFill>
                <a:latin typeface="Aptos"/>
              </a:defRPr>
            </a:pPr>
            <a:r>
              <a:t>Capture the browser alert and URL</a:t>
            </a:r>
          </a:p>
          <a:p>
            <a:pPr>
              <a:spcAft>
                <a:spcPts val="1000"/>
              </a:spcAft>
              <a:defRPr sz="1500">
                <a:solidFill>
                  <a:srgbClr val="233245"/>
                </a:solidFill>
                <a:latin typeface="Aptos"/>
              </a:defRPr>
            </a:pPr>
            <a:r>
              <a:t>Fix: context-aware output encoding; safe templating</a:t>
            </a:r>
          </a:p>
        </p:txBody>
      </p:sp>
      <p:pic>
        <p:nvPicPr>
          <p:cNvPr id="7" name="Picture 6" descr="10003919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316286"/>
            <a:ext cx="5806440" cy="14024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0" y="4425696"/>
            <a:ext cx="5806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26579"/>
                </a:solidFill>
              </a:defRPr>
            </a:pPr>
            <a:r>
              <a:t>Reflected XSS execution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43A"/>
                </a:solidFill>
                <a:latin typeface="Aptos Display"/>
              </a:defRPr>
            </a:pPr>
            <a:r>
              <a:t>Step 5 — Stored XSS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579"/>
                </a:solidFill>
              </a:defRPr>
            </a:pPr>
            <a:r>
              <a:t>Persistence and execution are different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064240" cy="32004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26579"/>
                </a:solidFill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3245"/>
                </a:solidFill>
                <a:latin typeface="Aptos"/>
              </a:defRPr>
            </a:pPr>
            <a:r>
              <a:t>Submit a labelled guestbook test entry</a:t>
            </a:r>
          </a:p>
          <a:p>
            <a:pPr>
              <a:spcAft>
                <a:spcPts val="1000"/>
              </a:spcAft>
              <a:defRPr sz="1400">
                <a:solidFill>
                  <a:srgbClr val="233245"/>
                </a:solidFill>
                <a:latin typeface="Aptos"/>
              </a:defRPr>
            </a:pPr>
            <a:r>
              <a:t>Refresh the page and check whether it remains</a:t>
            </a:r>
          </a:p>
          <a:p>
            <a:pPr>
              <a:spcAft>
                <a:spcPts val="1000"/>
              </a:spcAft>
              <a:defRPr sz="1400">
                <a:solidFill>
                  <a:srgbClr val="233245"/>
                </a:solidFill>
                <a:latin typeface="Aptos"/>
              </a:defRPr>
            </a:pPr>
            <a:r>
              <a:t>Capture any script alert separately</a:t>
            </a:r>
          </a:p>
          <a:p>
            <a:pPr>
              <a:spcAft>
                <a:spcPts val="1000"/>
              </a:spcAft>
              <a:defRPr sz="1400">
                <a:solidFill>
                  <a:srgbClr val="233245"/>
                </a:solidFill>
                <a:latin typeface="Aptos"/>
              </a:defRPr>
            </a:pPr>
            <a:r>
              <a:t>This screenshot supports stored-content activity; it alone does not prove execution</a:t>
            </a:r>
          </a:p>
          <a:p>
            <a:pPr>
              <a:spcAft>
                <a:spcPts val="1000"/>
              </a:spcAft>
              <a:defRPr sz="1400">
                <a:solidFill>
                  <a:srgbClr val="233245"/>
                </a:solidFill>
                <a:latin typeface="Aptos"/>
              </a:defRPr>
            </a:pPr>
            <a:r>
              <a:t>Fix: encode stored output; sanitize only when rich HTML is needed</a:t>
            </a:r>
          </a:p>
        </p:txBody>
      </p:sp>
      <p:pic>
        <p:nvPicPr>
          <p:cNvPr id="7" name="Picture 6" descr="10003919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58076"/>
            <a:ext cx="5486400" cy="37076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5843016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26579"/>
                </a:solidFill>
              </a:defRPr>
            </a:pPr>
            <a:r>
              <a:t>Stored XSS guestbook evidence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43A"/>
                </a:solidFill>
                <a:latin typeface="Aptos Display"/>
              </a:defRPr>
            </a:pPr>
            <a:r>
              <a:t>Step 6 — OWASP ZAP 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579"/>
                </a:solidFill>
              </a:defRPr>
            </a:pPr>
            <a:r>
              <a:t>Review alerts manually; export the HTML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064240" cy="32004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26579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3245"/>
                </a:solidFill>
                <a:latin typeface="Aptos"/>
              </a:defRPr>
            </a:pPr>
            <a:r>
              <a:t>Set target to http://127.0.0.1:8082</a:t>
            </a:r>
          </a:p>
          <a:p>
            <a:pPr>
              <a:spcAft>
                <a:spcPts val="1000"/>
              </a:spcAft>
              <a:defRPr sz="1400">
                <a:solidFill>
                  <a:srgbClr val="233245"/>
                </a:solidFill>
                <a:latin typeface="Aptos"/>
              </a:defRPr>
            </a:pPr>
            <a:r>
              <a:t>Run the scan and open Alerts</a:t>
            </a:r>
          </a:p>
          <a:p>
            <a:pPr>
              <a:spcAft>
                <a:spcPts val="1000"/>
              </a:spcAft>
              <a:defRPr sz="1400">
                <a:solidFill>
                  <a:srgbClr val="233245"/>
                </a:solidFill>
                <a:latin typeface="Aptos"/>
              </a:defRPr>
            </a:pPr>
            <a:r>
              <a:t>Review directory browsing, headers and cookie attributes</a:t>
            </a:r>
          </a:p>
          <a:p>
            <a:pPr>
              <a:spcAft>
                <a:spcPts val="1000"/>
              </a:spcAft>
              <a:defRPr sz="1400">
                <a:solidFill>
                  <a:srgbClr val="233245"/>
                </a:solidFill>
                <a:latin typeface="Aptos"/>
              </a:defRPr>
            </a:pPr>
            <a:r>
              <a:t>Treat informational/diagnostic alerts as leads, not confirmed vulnerabilities</a:t>
            </a:r>
          </a:p>
          <a:p>
            <a:pPr>
              <a:spcAft>
                <a:spcPts val="1000"/>
              </a:spcAft>
              <a:defRPr sz="1400">
                <a:solidFill>
                  <a:srgbClr val="233245"/>
                </a:solidFill>
                <a:latin typeface="Aptos"/>
              </a:defRPr>
            </a:pPr>
            <a:r>
              <a:t>Export and retain the HTML report</a:t>
            </a:r>
          </a:p>
        </p:txBody>
      </p:sp>
      <p:pic>
        <p:nvPicPr>
          <p:cNvPr id="7" name="Picture 6" descr="10003918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331" y="1417320"/>
            <a:ext cx="3906057" cy="2148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0" y="3602736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26579"/>
                </a:solidFill>
              </a:defRPr>
            </a:pPr>
            <a:r>
              <a:t>ZAP application evidence</a:t>
            </a:r>
          </a:p>
        </p:txBody>
      </p:sp>
      <p:pic>
        <p:nvPicPr>
          <p:cNvPr id="9" name="Picture 8" descr="10003920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168" y="3703320"/>
            <a:ext cx="3750382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2160" y="5568696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26579"/>
                </a:solidFill>
              </a:defRPr>
            </a:pPr>
            <a:r>
              <a:t>ZAP report evidence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43A"/>
                </a:solidFill>
                <a:latin typeface="Aptos Display"/>
              </a:defRPr>
            </a:pPr>
            <a:r>
              <a:t>Findings &amp; Remediation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579"/>
                </a:solidFill>
              </a:defRPr>
            </a:pPr>
            <a:r>
              <a:t>Qualitative lab findings — not a production-system rating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064240" cy="32004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26579"/>
                </a:solidFill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698480" cy="621792"/>
          </a:xfrm>
          <a:prstGeom prst="roundRect">
            <a:avLst/>
          </a:prstGeom>
          <a:solidFill>
            <a:srgbClr val="F1F5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45CE6"/>
                </a:solidFill>
              </a:defRPr>
            </a:pPr>
            <a:r>
              <a:t>SQL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527048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3245"/>
                </a:solidFill>
              </a:defRPr>
            </a:pPr>
            <a:r>
              <a:t>Parameterized queries; least privilege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10698480" cy="621792"/>
          </a:xfrm>
          <a:prstGeom prst="roundRect">
            <a:avLst/>
          </a:prstGeom>
          <a:solidFill>
            <a:srgbClr val="F1F5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50008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45CE6"/>
                </a:solidFill>
              </a:defRPr>
            </a:pPr>
            <a:r>
              <a:t>Reflected XSS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350008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3245"/>
                </a:solidFill>
              </a:defRPr>
            </a:pPr>
            <a:r>
              <a:t>Context-aware output encoding; CSP as extra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63240"/>
            <a:ext cx="10698480" cy="621792"/>
          </a:xfrm>
          <a:prstGeom prst="roundRect">
            <a:avLst/>
          </a:prstGeom>
          <a:solidFill>
            <a:srgbClr val="F1F5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72968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45CE6"/>
                </a:solidFill>
              </a:defRPr>
            </a:pPr>
            <a:r>
              <a:t>Stored XSS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172968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3245"/>
                </a:solidFill>
              </a:defRPr>
            </a:pPr>
            <a:r>
              <a:t>Encode stored output; verify execution separately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86200"/>
            <a:ext cx="10698480" cy="621792"/>
          </a:xfrm>
          <a:prstGeom prst="roundRect">
            <a:avLst/>
          </a:prstGeom>
          <a:solidFill>
            <a:srgbClr val="F1F5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95928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45CE6"/>
                </a:solidFill>
              </a:defRPr>
            </a:pPr>
            <a:r>
              <a:t>Directory browsing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995928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3245"/>
                </a:solidFill>
              </a:defRPr>
            </a:pPr>
            <a:r>
              <a:t>Disable directory listing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09160"/>
            <a:ext cx="10698480" cy="621792"/>
          </a:xfrm>
          <a:prstGeom prst="roundRect">
            <a:avLst/>
          </a:prstGeom>
          <a:solidFill>
            <a:srgbClr val="F1F5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18888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45CE6"/>
                </a:solidFill>
              </a:defRPr>
            </a:pPr>
            <a:r>
              <a:t>Headers / cookies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818888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3245"/>
                </a:solidFill>
              </a:defRPr>
            </a:pPr>
            <a:r>
              <a:t>Review CSP, anti-clickjacking, nosniff, HttpOnly, Secure, SameSite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43A"/>
                </a:solidFill>
                <a:latin typeface="Aptos Display"/>
              </a:defRPr>
            </a:pPr>
            <a:r>
              <a:t>Conclusion &amp; Submission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579"/>
                </a:solidFill>
              </a:defRPr>
            </a:pPr>
            <a:r>
              <a:t>A complete VAPT workflow is scope → test → verify →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064240" cy="32004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26579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3245"/>
                </a:solidFill>
                <a:latin typeface="Aptos"/>
              </a:defRPr>
            </a:pPr>
            <a:r>
              <a:t>Keep the report, PPT, selected screenshots and ZAP HTML report together</a:t>
            </a:r>
          </a:p>
          <a:p>
            <a:pPr>
              <a:spcAft>
                <a:spcPts val="1000"/>
              </a:spcAft>
              <a:defRPr sz="1600">
                <a:solidFill>
                  <a:srgbClr val="233245"/>
                </a:solidFill>
                <a:latin typeface="Aptos"/>
              </a:defRPr>
            </a:pPr>
            <a:r>
              <a:t>Use only claims supported by visible evidence</a:t>
            </a:r>
          </a:p>
          <a:p>
            <a:pPr>
              <a:spcAft>
                <a:spcPts val="1000"/>
              </a:spcAft>
              <a:defRPr sz="1600">
                <a:solidFill>
                  <a:srgbClr val="233245"/>
                </a:solidFill>
                <a:latin typeface="Aptos"/>
              </a:defRPr>
            </a:pPr>
            <a:r>
              <a:t>Add the four OWASP topic notes if the assignment requires them separately</a:t>
            </a:r>
          </a:p>
          <a:p>
            <a:pPr>
              <a:spcAft>
                <a:spcPts val="1000"/>
              </a:spcAft>
              <a:defRPr sz="1600">
                <a:solidFill>
                  <a:srgbClr val="233245"/>
                </a:solidFill>
                <a:latin typeface="Aptos"/>
              </a:defRPr>
            </a:pPr>
            <a:r>
              <a:t>Upload to GitHub after reviewing the final files</a:t>
            </a:r>
          </a:p>
          <a:p>
            <a:pPr>
              <a:spcAft>
                <a:spcPts val="1000"/>
              </a:spcAft>
              <a:defRPr sz="1600">
                <a:solidFill>
                  <a:srgbClr val="233245"/>
                </a:solidFill>
                <a:latin typeface="Aptos"/>
              </a:defRPr>
            </a:pPr>
            <a:r>
              <a:t>References: OWASP Top 10, OWASP Cheat Sheets, ZAP documentation, PortSwigger Web Security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